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Loan Servicing Process Improvement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B5563"/>
                </a:solidFill>
              </a:rPr>
              <a:t>Business Analyst portfolio project | LendWise Finance UK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AS-IS / TO-BE process redesign</a:t>
            </a:r>
          </a:p>
          <a:p>
            <a:pPr>
              <a:spcAft>
                <a:spcPts val="800"/>
              </a:spcAft>
              <a:defRPr sz="1800"/>
            </a:pPr>
            <a:r>
              <a:t>BRD, FRD, RTM, UAT and defect governance</a:t>
            </a:r>
          </a:p>
          <a:p>
            <a:pPr>
              <a:spcAft>
                <a:spcPts val="800"/>
              </a:spcAft>
              <a:defRPr sz="1800"/>
            </a:pPr>
            <a:r>
              <a:t>SQL analysis and Power BI reporting design</a:t>
            </a:r>
          </a:p>
        </p:txBody>
      </p:sp>
      <p:pic>
        <p:nvPicPr>
          <p:cNvPr id="5" name="Picture 4" descr="Executive_Dashboard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25880"/>
            <a:ext cx="484632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Manual verification delays approval</a:t>
            </a:r>
          </a:p>
          <a:p>
            <a:pPr>
              <a:spcAft>
                <a:spcPts val="800"/>
              </a:spcAft>
              <a:defRPr sz="1800"/>
            </a:pPr>
            <a:r>
              <a:t>Duplicate data entry creates rework</a:t>
            </a:r>
          </a:p>
          <a:p>
            <a:pPr>
              <a:spcAft>
                <a:spcPts val="800"/>
              </a:spcAft>
              <a:defRPr sz="1800"/>
            </a:pPr>
            <a:r>
              <a:t>Reconciliation breaks impact reporting confidence</a:t>
            </a:r>
          </a:p>
          <a:p>
            <a:pPr>
              <a:spcAft>
                <a:spcPts val="800"/>
              </a:spcAft>
              <a:defRPr sz="1800"/>
            </a:pPr>
            <a:r>
              <a:t>Email-based exception handling gives poor ownership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1417320"/>
          <a:ext cx="53949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320"/>
                <a:gridCol w="1798320"/>
                <a:gridCol w="1798320"/>
              </a:tblGrid>
              <a:tr h="8686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KPI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Current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Approval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2.0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Recon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99.5%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Reporting Delay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AS-IS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Application to investor reporting is linear and manual</a:t>
            </a:r>
          </a:p>
          <a:p>
            <a:pPr>
              <a:spcAft>
                <a:spcPts val="800"/>
              </a:spcAft>
              <a:defRPr sz="1800"/>
            </a:pPr>
            <a:r>
              <a:t>Verification, setup and reporting rely on spreadsheets</a:t>
            </a:r>
          </a:p>
          <a:p>
            <a:pPr>
              <a:spcAft>
                <a:spcPts val="800"/>
              </a:spcAft>
              <a:defRPr sz="1800"/>
            </a:pPr>
            <a:r>
              <a:t>UAT defects are not fully linked to requirements</a:t>
            </a:r>
          </a:p>
        </p:txBody>
      </p:sp>
      <p:pic>
        <p:nvPicPr>
          <p:cNvPr id="4" name="Picture 3" descr="AS_IS_Process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417320"/>
            <a:ext cx="5943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TO-BE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Digital KYC and duplicate checks</a:t>
            </a:r>
          </a:p>
          <a:p>
            <a:pPr>
              <a:spcAft>
                <a:spcPts val="800"/>
              </a:spcAft>
              <a:defRPr sz="1800"/>
            </a:pPr>
            <a:r>
              <a:t>Automated loan setup and repayment schedule</a:t>
            </a:r>
          </a:p>
          <a:p>
            <a:pPr>
              <a:spcAft>
                <a:spcPts val="800"/>
              </a:spcAft>
              <a:defRPr sz="1800"/>
            </a:pPr>
            <a:r>
              <a:t>Daily payment reconciliation</a:t>
            </a:r>
          </a:p>
          <a:p>
            <a:pPr>
              <a:spcAft>
                <a:spcPts val="800"/>
              </a:spcAft>
              <a:defRPr sz="1800"/>
            </a:pPr>
            <a:r>
              <a:t>SLA-based exception queue</a:t>
            </a:r>
          </a:p>
          <a:p>
            <a:pPr>
              <a:spcAft>
                <a:spcPts val="800"/>
              </a:spcAft>
              <a:defRPr sz="1800"/>
            </a:pPr>
            <a:r>
              <a:t>Daily investor reporting Power BI dataset</a:t>
            </a:r>
          </a:p>
        </p:txBody>
      </p:sp>
      <p:pic>
        <p:nvPicPr>
          <p:cNvPr id="4" name="Picture 3" descr="TO_BE_Process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417320"/>
            <a:ext cx="5943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Stakeholders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Loan Operations owns process outcomes</a:t>
            </a:r>
          </a:p>
          <a:p>
            <a:pPr>
              <a:spcAft>
                <a:spcPts val="800"/>
              </a:spcAft>
              <a:defRPr sz="1800"/>
            </a:pPr>
            <a:r>
              <a:t>Credit/Risk owns underwriting rules</a:t>
            </a:r>
          </a:p>
          <a:p>
            <a:pPr>
              <a:spcAft>
                <a:spcPts val="800"/>
              </a:spcAft>
              <a:defRPr sz="1800"/>
            </a:pPr>
            <a:r>
              <a:t>Finance owns reconciliation controls</a:t>
            </a:r>
          </a:p>
          <a:p>
            <a:pPr>
              <a:spcAft>
                <a:spcPts val="800"/>
              </a:spcAft>
              <a:defRPr sz="1800"/>
            </a:pPr>
            <a:r>
              <a:t>Compliance owns KYC and audit controls</a:t>
            </a:r>
          </a:p>
          <a:p>
            <a:pPr>
              <a:spcAft>
                <a:spcPts val="800"/>
              </a:spcAft>
              <a:defRPr sz="1800"/>
            </a:pPr>
            <a:r>
              <a:t>BI owns dashboard delivery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1417320"/>
          <a:ext cx="53949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</a:tblGrid>
              <a:tr h="69494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Deliverable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BRD / FRD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Complete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RTM / UAT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Complete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SQL /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Complete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Dashboard Guide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Complete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Requirements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25 business requirements documented</a:t>
            </a:r>
          </a:p>
          <a:p>
            <a:pPr>
              <a:spcAft>
                <a:spcPts val="800"/>
              </a:spcAft>
              <a:defRPr sz="1800"/>
            </a:pPr>
            <a:r>
              <a:t>Functional modules include KYC, underwriting, payments and reporting</a:t>
            </a:r>
          </a:p>
          <a:p>
            <a:pPr>
              <a:spcAft>
                <a:spcPts val="800"/>
              </a:spcAft>
              <a:defRPr sz="1800"/>
            </a:pPr>
            <a:r>
              <a:t>Business rules define validation, exception and audit behaviour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1417320"/>
          <a:ext cx="53949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</a:tblGrid>
              <a:tr h="69494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Deliverable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BRD / FRD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Complete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RTM / UAT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Complete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SQL /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Complete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Dashboard Guide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Complete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Gap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Current-state pain points converted into future-state capabilities</a:t>
            </a:r>
          </a:p>
          <a:p>
            <a:pPr>
              <a:spcAft>
                <a:spcPts val="800"/>
              </a:spcAft>
              <a:defRPr sz="1800"/>
            </a:pPr>
            <a:r>
              <a:t>Prioritisation based on operational impact and control risk</a:t>
            </a:r>
          </a:p>
          <a:p>
            <a:pPr>
              <a:spcAft>
                <a:spcPts val="800"/>
              </a:spcAft>
              <a:defRPr sz="1800"/>
            </a:pPr>
            <a:r>
              <a:t>Gaps become user stories and UAT coverage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1417320"/>
          <a:ext cx="53949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</a:tblGrid>
              <a:tr h="69494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Deliverable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BRD / FRD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Complete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RTM / UAT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Complete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SQL /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Complete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Dashboard Guide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Complete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UAT and Defect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RTM links requirements to user stories and test cases</a:t>
            </a:r>
          </a:p>
          <a:p>
            <a:pPr>
              <a:spcAft>
                <a:spcPts val="800"/>
              </a:spcAft>
              <a:defRPr sz="1800"/>
            </a:pPr>
            <a:r>
              <a:t>30 UAT scenarios cover core business flows</a:t>
            </a:r>
          </a:p>
          <a:p>
            <a:pPr>
              <a:spcAft>
                <a:spcPts val="800"/>
              </a:spcAft>
              <a:defRPr sz="1800"/>
            </a:pPr>
            <a:r>
              <a:t>Defect log records severity, owner, status and retest result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1417320"/>
          <a:ext cx="53949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</a:tblGrid>
              <a:tr h="69494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Deliverable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BRD / FRD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Complete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RTM / UAT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Complete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SQL /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Complete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Dashboard Guide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Complete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SQL and Data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PostgreSQL schema for customer, loan, verification, payments, exceptions and reporting</a:t>
            </a:r>
          </a:p>
          <a:p>
            <a:pPr>
              <a:spcAft>
                <a:spcPts val="800"/>
              </a:spcAft>
              <a:defRPr sz="1800"/>
            </a:pPr>
            <a:r>
              <a:t>Queries calculate approval days, reconciliation accuracy and exception backlog</a:t>
            </a:r>
          </a:p>
          <a:p>
            <a:pPr>
              <a:spcAft>
                <a:spcPts val="800"/>
              </a:spcAft>
              <a:defRPr sz="1800"/>
            </a:pPr>
            <a:r>
              <a:t>Data quality checks identify control breaks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1417320"/>
          <a:ext cx="53949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</a:tblGrid>
              <a:tr h="69494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Deliverable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BRD / FRD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Complete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RTM / UAT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Complete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SQL /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Complete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Dashboard Guide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Complete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Power BI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Executive overview</a:t>
            </a:r>
          </a:p>
          <a:p>
            <a:pPr>
              <a:spcAft>
                <a:spcPts val="800"/>
              </a:spcAft>
              <a:defRPr sz="1800"/>
            </a:pPr>
            <a:r>
              <a:t>Loan operations funnel</a:t>
            </a:r>
          </a:p>
          <a:p>
            <a:pPr>
              <a:spcAft>
                <a:spcPts val="800"/>
              </a:spcAft>
              <a:defRPr sz="1800"/>
            </a:pPr>
            <a:r>
              <a:t>Payment and reconciliation performance</a:t>
            </a:r>
          </a:p>
          <a:p>
            <a:pPr>
              <a:spcAft>
                <a:spcPts val="800"/>
              </a:spcAft>
              <a:defRPr sz="1800"/>
            </a:pPr>
            <a:r>
              <a:t>Exception ageing and ownership</a:t>
            </a:r>
          </a:p>
          <a:p>
            <a:pPr>
              <a:spcAft>
                <a:spcPts val="800"/>
              </a:spcAft>
              <a:defRPr sz="1800"/>
            </a:pPr>
            <a:r>
              <a:t>Investor reporting trend</a:t>
            </a:r>
          </a:p>
        </p:txBody>
      </p:sp>
      <p:pic>
        <p:nvPicPr>
          <p:cNvPr id="4" name="Picture 3" descr="Executive_Dashboard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25880"/>
            <a:ext cx="566928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Approval time reduced from 5.4 to 2 days</a:t>
            </a:r>
          </a:p>
          <a:p>
            <a:pPr>
              <a:spcAft>
                <a:spcPts val="800"/>
              </a:spcAft>
              <a:defRPr sz="1800"/>
            </a:pPr>
            <a:r>
              <a:t>Manual verification reduced through API and exception review</a:t>
            </a:r>
          </a:p>
          <a:p>
            <a:pPr>
              <a:spcAft>
                <a:spcPts val="800"/>
              </a:spcAft>
              <a:defRPr sz="1800"/>
            </a:pPr>
            <a:r>
              <a:t>Reconciliation accuracy target of 99.5%</a:t>
            </a:r>
          </a:p>
          <a:p>
            <a:pPr>
              <a:spcAft>
                <a:spcPts val="800"/>
              </a:spcAft>
              <a:defRPr sz="1800"/>
            </a:pPr>
            <a:r>
              <a:t>Daily reporting improves leadership visibility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1417320"/>
          <a:ext cx="53949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</a:tblGrid>
              <a:tr h="69494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Deliverable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BRD / FRD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Complete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RTM / UAT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Complete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SQL /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Complete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Dashboard Guide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Complete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